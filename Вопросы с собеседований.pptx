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74"/>
    <p:restoredTop sz="94610"/>
  </p:normalViewPr>
  <p:slideViewPr>
    <p:cSldViewPr snapToGrid="0" snapToObjects="1">
      <p:cViewPr varScale="1">
        <p:scale>
          <a:sx n="223" d="100"/>
          <a:sy n="223" d="100"/>
        </p:scale>
        <p:origin x="10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33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СТАРТ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74980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100" b="1" dirty="0">
                <a:solidFill>
                  <a:srgbClr val="F7F9FF"/>
                </a:solidFill>
              </a:rPr>
              <a:t>Вопросы с собеседований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DBFF"/>
                </a:solidFill>
              </a:rPr>
              <a:t>SQL • Python • инструменты • кейсы • системный дизайн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0" y="2854071"/>
            <a:ext cx="1417320" cy="301752"/>
          </a:xfrm>
          <a:prstGeom prst="roundRect">
            <a:avLst>
              <a:gd name="adj" fmla="val 12121"/>
            </a:avLst>
          </a:prstGeom>
          <a:solidFill>
            <a:srgbClr val="2FDBFF">
              <a:alpha val="14000"/>
            </a:srgbClr>
          </a:solidFill>
          <a:ln w="12700">
            <a:solidFill>
              <a:srgbClr val="2FDBFF">
                <a:alpha val="57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927223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69105" y="2850642"/>
            <a:ext cx="1417320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0545" y="292379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3337560"/>
            <a:ext cx="1417320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107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Airflow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68880" y="3337560"/>
            <a:ext cx="1417320" cy="301752"/>
          </a:xfrm>
          <a:prstGeom prst="roundRect">
            <a:avLst>
              <a:gd name="adj" fmla="val 12121"/>
            </a:avLst>
          </a:prstGeom>
          <a:solidFill>
            <a:srgbClr val="67A7FF">
              <a:alpha val="14000"/>
            </a:srgbClr>
          </a:solidFill>
          <a:ln w="12700">
            <a:solidFill>
              <a:srgbClr val="67A7FF">
                <a:alpha val="57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4107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7A7FF"/>
                </a:solidFill>
              </a:rPr>
              <a:t>Spark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51960" y="3337560"/>
            <a:ext cx="1417320" cy="301752"/>
          </a:xfrm>
          <a:prstGeom prst="roundRect">
            <a:avLst>
              <a:gd name="adj" fmla="val 12121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57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4107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Kafka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5800" y="2854071"/>
            <a:ext cx="1417320" cy="301752"/>
          </a:xfrm>
          <a:prstGeom prst="roundRect">
            <a:avLst>
              <a:gd name="adj" fmla="val 12121"/>
            </a:avLst>
          </a:prstGeom>
          <a:solidFill>
            <a:srgbClr val="FF9F43">
              <a:alpha val="14000"/>
            </a:srgbClr>
          </a:solidFill>
          <a:ln w="12700">
            <a:solidFill>
              <a:srgbClr val="FF9F43">
                <a:alpha val="57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927223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F43"/>
                </a:solidFill>
              </a:rPr>
              <a:t>DWH</a:t>
            </a:r>
            <a:endParaRPr lang="en-US" sz="7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BD834-D1CE-1313-3A37-346780BE8D37}"/>
              </a:ext>
            </a:extLst>
          </p:cNvPr>
          <p:cNvSpPr txBox="1"/>
          <p:nvPr/>
        </p:nvSpPr>
        <p:spPr>
          <a:xfrm>
            <a:off x="6023610" y="42348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СТРУКТУРА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2650" b="1" dirty="0" err="1">
                <a:solidFill>
                  <a:srgbClr val="F7F9FF"/>
                </a:solidFill>
              </a:rPr>
              <a:t>Роадмап</a:t>
            </a:r>
            <a:r>
              <a:rPr lang="ru-RU" sz="2650" b="1" dirty="0">
                <a:solidFill>
                  <a:srgbClr val="F7F9FF"/>
                </a:solidFill>
              </a:rPr>
              <a:t> на сегодня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13232" y="2011680"/>
            <a:ext cx="1874520" cy="233172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5798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Рынок РФ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77824" y="2523744"/>
            <a:ext cx="154533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8D0"/>
                </a:solidFill>
              </a:rPr>
              <a:t>Яндекс, Сбер, Т-Банк, Ozon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2011680"/>
            <a:ext cx="1874520" cy="233172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215798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SQL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3090672" y="2523744"/>
            <a:ext cx="154533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8D0"/>
                </a:solidFill>
              </a:rPr>
              <a:t>Medium / Hard задачи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2011680"/>
            <a:ext cx="1874520" cy="233172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15798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Python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5303520" y="2523744"/>
            <a:ext cx="154533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ru-RU" sz="1050" dirty="0">
                <a:solidFill>
                  <a:srgbClr val="AEB8D0"/>
                </a:solidFill>
              </a:rPr>
              <a:t>Алгоритмические задачи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51776" y="2011680"/>
            <a:ext cx="1874520" cy="233172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15798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Кейсы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516368" y="2523744"/>
            <a:ext cx="154533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8D0"/>
                </a:solidFill>
              </a:rPr>
              <a:t>метрики, </a:t>
            </a:r>
            <a:r>
              <a:rPr lang="en-US" sz="1050" dirty="0" err="1">
                <a:solidFill>
                  <a:srgbClr val="AEB8D0"/>
                </a:solidFill>
              </a:rPr>
              <a:t>инц</a:t>
            </a:r>
            <a:r>
              <a:rPr lang="ru-RU" sz="1050" dirty="0">
                <a:solidFill>
                  <a:srgbClr val="AEB8D0"/>
                </a:solidFill>
              </a:rPr>
              <a:t>и</a:t>
            </a:r>
            <a:r>
              <a:rPr lang="en-US" sz="1050" dirty="0" err="1">
                <a:solidFill>
                  <a:srgbClr val="AEB8D0"/>
                </a:solidFill>
              </a:rPr>
              <a:t>денты</a:t>
            </a:r>
            <a:r>
              <a:rPr lang="en-US" sz="1050" dirty="0">
                <a:solidFill>
                  <a:srgbClr val="AEB8D0"/>
                </a:solidFill>
              </a:rPr>
              <a:t>, </a:t>
            </a:r>
            <a:r>
              <a:rPr lang="ru-RU" sz="1050" dirty="0">
                <a:solidFill>
                  <a:srgbClr val="AEB8D0"/>
                </a:solidFill>
              </a:rPr>
              <a:t>опыт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64624" y="2011680"/>
            <a:ext cx="1874520" cy="233172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215798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System design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9729216" y="2523744"/>
            <a:ext cx="154533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EB8D0"/>
                </a:solidFill>
              </a:rPr>
              <a:t>архитектурная сетка и схема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РЫНОК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2650" b="1" dirty="0" err="1">
                <a:solidFill>
                  <a:srgbClr val="F7F9FF"/>
                </a:solidFill>
              </a:rPr>
              <a:t>Роадмап</a:t>
            </a:r>
            <a:r>
              <a:rPr lang="ru-RU" sz="2650" b="1" dirty="0">
                <a:solidFill>
                  <a:srgbClr val="F7F9FF"/>
                </a:solidFill>
              </a:rPr>
              <a:t> для</a:t>
            </a:r>
            <a:r>
              <a:rPr lang="en-US" sz="2650" b="1" dirty="0">
                <a:solidFill>
                  <a:srgbClr val="F7F9FF"/>
                </a:solidFill>
              </a:rPr>
              <a:t> </a:t>
            </a:r>
            <a:r>
              <a:rPr lang="ru-RU" sz="2650" b="1" dirty="0">
                <a:solidFill>
                  <a:srgbClr val="F7F9FF"/>
                </a:solidFill>
              </a:rPr>
              <a:t>оффера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У разных компаний разная длина процесса, но проверяемые секции похожи.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901952" cy="1234440"/>
          </a:xfrm>
          <a:prstGeom prst="roundRect">
            <a:avLst>
              <a:gd name="adj" fmla="val 51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49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Скрининг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04672" y="2615184"/>
            <a:ext cx="1572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опыт, мотивация, стек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542032" y="2724912"/>
            <a:ext cx="219456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07792" y="2103120"/>
            <a:ext cx="1901952" cy="1234440"/>
          </a:xfrm>
          <a:prstGeom prst="roundRect">
            <a:avLst>
              <a:gd name="adj" fmla="val 51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249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Техника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3072384" y="2615184"/>
            <a:ext cx="1572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SQL / Python / данные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809744" y="2724912"/>
            <a:ext cx="219456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75504" y="2103120"/>
            <a:ext cx="1901952" cy="1234440"/>
          </a:xfrm>
          <a:prstGeom prst="roundRect">
            <a:avLst>
              <a:gd name="adj" fmla="val 51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2249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Кейс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5340096" y="2615184"/>
            <a:ext cx="1572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метрики, диагностика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077456" y="2724912"/>
            <a:ext cx="219456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43216" y="2103120"/>
            <a:ext cx="1901952" cy="1234440"/>
          </a:xfrm>
          <a:prstGeom prst="roundRect">
            <a:avLst>
              <a:gd name="adj" fmla="val 51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67A7FF">
                <a:alpha val="4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2249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Инструменты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7607808" y="2615184"/>
            <a:ext cx="1572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Airflow / Spark / Kafka / DWH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345168" y="2724912"/>
            <a:ext cx="219456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10928" y="2103120"/>
            <a:ext cx="1901952" cy="1234440"/>
          </a:xfrm>
          <a:prstGeom prst="roundRect">
            <a:avLst>
              <a:gd name="adj" fmla="val 51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2249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Архитектура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9875520" y="2615184"/>
            <a:ext cx="1572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SLA, слои, качество, доступы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КОМПАНИИ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Компании: короткое сравнение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Ориентир по публичным материалам и типовым процессам найма.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2082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Яндекс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77824" y="2386584"/>
            <a:ext cx="474573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рекрутер → технические секции → финальные встречи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Фокус: SQL, Python/алгоритмы, продуктовая логика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6336792" y="1874520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020824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Сбер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501384" y="2386584"/>
            <a:ext cx="474573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HR/AI-рекрутер → техника → команда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Фокус: SQL, Python, аналитика, enterprise-процессы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13232" y="3776472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922776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Т-Банк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77824" y="4288536"/>
            <a:ext cx="474573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секция SQL и программирования, лайвкодинг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Фокус: join, окна, время, агрегации, код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336792" y="3776472"/>
            <a:ext cx="5074920" cy="1417320"/>
          </a:xfrm>
          <a:prstGeom prst="roundRect">
            <a:avLst>
              <a:gd name="adj" fmla="val 4516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3922776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Ozon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501384" y="4288536"/>
            <a:ext cx="474573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для Data публично указан короткий процесс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AEB8D0"/>
                </a:solidFill>
              </a:rPr>
              <a:t>Фокус: SQL, статистика для DA, техбаза для DE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КОМПАНИИ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Яндекс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Многоступенчатый формат: знакомство, технические секции, финальные встречи.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1901952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288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На техсекции важны SQL, Python/алгоритмы, статистика и логика метрик.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32304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5915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Ответ должен быть проверяемым: формула, код, граничные случаи, бизнес-смысл.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88950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Для сильного </a:t>
            </a:r>
            <a:r>
              <a:rPr lang="en-US" sz="1400" dirty="0" err="1">
                <a:solidFill>
                  <a:srgbClr val="F7F9FF"/>
                </a:solidFill>
              </a:rPr>
              <a:t>уровня</a:t>
            </a:r>
            <a:r>
              <a:rPr lang="en-US" sz="1400" dirty="0">
                <a:solidFill>
                  <a:srgbClr val="F7F9FF"/>
                </a:solidFill>
              </a:rPr>
              <a:t> - объяснение масштаба, надежности и ограничений решения.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19751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Подготовка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068312" y="2340864"/>
            <a:ext cx="351129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SQL Medium/Hard, Python Medium/Hard, кейсы на метрики, диагностика падений, архитектурная ясность.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КОМПАНИИ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Сбер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Банковский enterprise: техника плюс процессы, безопасность и качество данных.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1901952"/>
            <a:ext cx="82296" cy="82296"/>
          </a:xfrm>
          <a:prstGeom prst="ellipse">
            <a:avLst/>
          </a:prstGeom>
          <a:solidFill>
            <a:srgbClr val="4DE6A8"/>
          </a:solidFill>
          <a:ln w="12700">
            <a:solidFill>
              <a:srgbClr val="4DE6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288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Встречаются SQL, Python/Pandas, матстат и продуктовые кейсы.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32304"/>
            <a:ext cx="82296" cy="82296"/>
          </a:xfrm>
          <a:prstGeom prst="ellipse">
            <a:avLst/>
          </a:prstGeom>
          <a:solidFill>
            <a:srgbClr val="4DE6A8"/>
          </a:solidFill>
          <a:ln w="12700">
            <a:solidFill>
              <a:srgbClr val="4DE6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5915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Важны зрелые ответы про доступы, аудит, SLA, регламенты и надежность.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82296" cy="82296"/>
          </a:xfrm>
          <a:prstGeom prst="ellipse">
            <a:avLst/>
          </a:prstGeom>
          <a:solidFill>
            <a:srgbClr val="4DE6A8"/>
          </a:solidFill>
          <a:ln w="12700">
            <a:solidFill>
              <a:srgbClr val="4DE6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88950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Один технический этап может быть плотным: код, теория и кейс в одной встрече.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19751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Подготовка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068312" y="2340864"/>
            <a:ext cx="351129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SQL на больших таблицах, Python для данных, DWH-слои, качество данных, финансовая сверка.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КОМПАНИИ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Т-Банк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Публично описана секция SQL и программирования: 90 минут, лайвкодинг.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1901952"/>
            <a:ext cx="82296" cy="822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288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Проверяют join, группировки, HAVING, NULL, UNION, подзапросы, окна, время.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32304"/>
            <a:ext cx="82296" cy="822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591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Для DE дополнительно ожидают логику потоков, DWH, ETL и эксплуатацию.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82296" cy="822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88950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Формат требует полного рабочего кода и краткого объяснения сложности.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19751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Подготовка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068312" y="2340864"/>
            <a:ext cx="351129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Писать код без псевдокода, объяснять план запроса, делать проверку результата.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КОМПАНИИ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Ozon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По публичной странице Data: короткая воронка и плотная техническая проверка.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190195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288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Data Analyst: SQL и задачи по математической статистике.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43230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591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Data Engineer: SQL и техническая база по данным.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88950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Для marketplace-кейсов нужны заказы, товары, логистика, поиск, возвраты.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182880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19751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Подготовка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068312" y="2340864"/>
            <a:ext cx="351129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Маркетплейс-метрики, SQL, воронки, товарная аналитика, качество данных в витринах.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ОЦЕНКА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Как выглядит сильный ответ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Видимый каркас для любой секции интервью.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49808" y="1993392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396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1. Данные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14400" y="2505456"/>
            <a:ext cx="1545336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таблицы, ключи, уровень строки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62656" y="1993392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21396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2. Решение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3127248" y="2505456"/>
            <a:ext cx="1545336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код, алгоритм, сложность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75504" y="1993392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21396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3. Надежность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5340096" y="2505456"/>
            <a:ext cx="1545336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дубли, NULL, late events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88352" y="1993392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21396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4. Проверка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552944" y="2505456"/>
            <a:ext cx="1545336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row count, суммы, distinct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1993392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67A7FF">
                <a:alpha val="4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5792" y="2139696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5. Масштаб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9765792" y="2505456"/>
            <a:ext cx="1545336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</a:rPr>
              <a:t>SLA, нагрузка, backfill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УРОВНИ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Medium и Hard: где граница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Уровень определяется не названием задачи, а объемом условий и качеством объяснения.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4754880" cy="2331720"/>
          </a:xfrm>
          <a:prstGeom prst="roundRect">
            <a:avLst>
              <a:gd name="adj" fmla="val 274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20824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Medium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78992" y="2386584"/>
            <a:ext cx="442569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Нужно выбрать правильный паттерн: окно, словарь, два указателя, heap, агрегация, join. Ошибка обычно в edge cases.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4754880" cy="2331720"/>
          </a:xfrm>
          <a:prstGeom prst="roundRect">
            <a:avLst>
              <a:gd name="adj" fmla="val 274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020824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Hard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565392" y="2386584"/>
            <a:ext cx="4425696" cy="1673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Несколько паттернов вместе: оптимизация, порядок событий, плотные ограничения по памяти/времени, сложные границы.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78638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7F9FF"/>
                </a:solidFill>
              </a:rPr>
              <a:t>SQL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оконные функции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67128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интервалы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48456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retention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9784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оптимизация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11112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качество данных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8412480" cy="0"/>
          </a:xfrm>
          <a:prstGeom prst="line">
            <a:avLst/>
          </a:prstGeom>
          <a:noFill/>
          <a:ln w="12700">
            <a:solidFill>
              <a:srgbClr val="FFD166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Дедупликация последнего состояния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Оставить актуальный статус заказа с tie-breaker по версии.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ROW_NUMBER, порядок сортировки, дубли статусов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WITH ranked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  order_id,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  status,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  updated_at,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  version,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  ROW_NUMBER() OVER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    PARTITION BY order_id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    ORDER BY updated_at DESC, version DESC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) AS rn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FROM order_status_log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SELECT order_id, status, updated_at, version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FROM ranked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WHERE rn = 1;</a:t>
            </a:r>
            <a:endParaRPr lang="en-US" sz="63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 err="1">
                <a:solidFill>
                  <a:srgbClr val="F7F9FF"/>
                </a:solidFill>
              </a:rPr>
              <a:t>Пересечение</a:t>
            </a:r>
            <a:r>
              <a:rPr lang="en-US" sz="2650" b="1" dirty="0">
                <a:solidFill>
                  <a:srgbClr val="F7F9FF"/>
                </a:solidFill>
              </a:rPr>
              <a:t> подписок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Найти пользователей с пересекающимися интервалами подписок.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LAG, интервалы [start, end), открытый конец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WITH normalized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  user_id,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  subscription_id,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  start_dt,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  COALESCE(end_dt, DATE '2999-12-31') AS end_dt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FROM subscriptions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), ordered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*,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LAG(end_dt) OVER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PARTITION BY 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ORDER BY start_dt, end_dt, subscription_id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 ) AS prev_end_dt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FROM normalized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SELECT user_id, subscription_id, start_dt, end_dt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FROM ordered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WHERE prev_end_dt &gt; start_dt;</a:t>
            </a:r>
            <a:endParaRPr lang="en-US" sz="63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 Retention по первой покупке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Посчитать D1/D7 retention от первой покупки.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когорта, distinct, даты активности, часовой пояс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WITH first_buy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SELECT user_id, MIN(paid_at::date) AS cohort_dt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FROM orders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WHERE paid_at IS NOT NULL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GROUP BY 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), activity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SELECT DISTINCT user_id, event_ts::date AS activity_dt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FROM app_events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f.cohort_dt,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COUNT(*) AS users,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COUNT(a1.user_id) AS d1_users,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COUNT(a7.user_id) AS d7_users,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ROUND(COUNT(a1.user_id)::numeric / NULLIF(COUNT(*), 0), 4) AS d1_retention,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ROUND(COUNT(a7.user_id)::numeric / NULLIF(COUNT(*), 0), 4) AS d7_retention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FROM first_buy f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LEFT JOIN activity a1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  ON a1.user_id = f.user_id AND a1.activity_dt = f.cohort_dt + 1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LEFT JOIN activity a7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  ON a7.user_id = f.user_id AND a7.activity_dt = f.cohort_dt + 7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GROUP BY f.cohort_dt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ORDER BY f.cohort_dt;</a:t>
            </a:r>
            <a:endParaRPr lang="en-US" sz="63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Many-to-many после JOIN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Выручка выросла после JOIN. Исправить размножение строк.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кардинальность, предагрегация, контроль суммы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WITH promo_by_order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SELECT order_id, SUM(discount_amount) AS discount_total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FROM order_promos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GROUP BY order_id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), item_by_order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SELECT order_id, SUM(item_price * quantity) AS gross_amount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FROM order_items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GROUP BY order_id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o.created_at::date AS dt,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SUM(i.gross_amount) AS gross_amount,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SUM(COALESCE(p.discount_total, 0)) AS discount_total,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SUM(i.gross_amount - COALESCE(p.discount_total, 0)) AS net_amount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FROM orders o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JOIN item_by_order i ON i.order_id = o.order_id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LEFT JOIN promo_by_order p ON p.order_id = o.order_id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GROUP BY o.created_at::date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ORDER BY dt;</a:t>
            </a:r>
            <a:endParaRPr lang="en-US" sz="63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 Цепочка событий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Поиск → карточка → корзина → оплата за 30 минут.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порядок событий, лишние события, окно времени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WITH e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SELECT user_id, event_name, event_ts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FROM events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WHERE event_name IN ('search', 'product_view', 'add_to_cart', 'payment_success')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SELECT DISTINCT s.user_id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FROM e 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JOIN e p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ON p.user_id = s.user_id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AND p.event_name = 'product_view'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AND p.event_ts BETWEEN s.event_ts AND s.event_ts + INTERVAL '30 minutes'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JOIN e c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ON c.user_id = s.user_id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AND c.event_name = 'add_to_cart'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AND c.event_ts BETWEEN p.event_ts AND s.event_ts + INTERVAL '30 minutes'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JOIN e pay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  ON pay.user_id = s.user_id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 AND pay.event_name = 'payment_success'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 AND pay.event_ts BETWEEN c.event_ts AND s.event_ts + INTERVAL '30 minutes'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WHERE s.event_name = 'search';</a:t>
            </a:r>
            <a:endParaRPr lang="en-US" sz="63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 Скользящая сумма 30 дней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Для каждого заказа посчитать сумму покупок клиента за 30 дней.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RANGE, неуникальные даты, текущий заказ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  user_id,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order_id,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paid_at,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amount,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SUM(amount) OVER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  PARTITION BY user_id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  ORDER BY paid_at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  RANGE BETWEEN INTERVAL '30 days' PRECEDING AND CURRENT ROW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) AS amount_30d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FROM orders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WHERE paid_at IS NOT NULL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ORDER BY user_id, paid_at, order_id;</a:t>
            </a:r>
            <a:endParaRPr lang="en-US" sz="63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 err="1">
                <a:solidFill>
                  <a:srgbClr val="F7F9FF"/>
                </a:solidFill>
              </a:rPr>
              <a:t>Антиджойн</a:t>
            </a:r>
            <a:r>
              <a:rPr lang="en-US" sz="2650" b="1" dirty="0">
                <a:solidFill>
                  <a:srgbClr val="F7F9FF"/>
                </a:solidFill>
              </a:rPr>
              <a:t> качества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Найти платежи без заказа и оплаченные заказы без платежа.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orphan records, симметричная сверка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SELECT 'payment_without_order' AS issue_type, p.payment_id::text AS object_id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FROM payments p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LEFT JOIN orders o ON o.order_id = p.order_id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WHERE o.order_id IS NULL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UNION ALL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SELECT 'paid_order_without_payment' AS issue_type, o.order_id::text AS object_id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FROM orders o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LEFT JOIN payments p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ON p.order_id = o.order_id AND p.status = 'success'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WHERE o.status = 'paid' AND p.payment_id IS NULL;</a:t>
            </a:r>
            <a:endParaRPr lang="en-US" sz="63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19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 Топ-3 с равными местами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Вывести товары топ-3 по выручке в категории, включая равные места.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RANK vs ROW_NUMBER, агрегация до ранжирования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WITH revenue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  category_id,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  item_id,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  SUM(price * quantity) AS revenue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FROM order_items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GROUP BY category_id, item_id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), ranked AS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*,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RANK() OVER (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PARTITION BY category_id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ORDER BY revenue DESC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 ) AS place_num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FROM revenue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SELECT category_id, item_id, revenue, place_num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FROM ranked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WHERE place_num &lt;= 3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ORDER BY category_id, place_num, item_id;</a:t>
            </a:r>
            <a:endParaRPr lang="en-US" sz="63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 err="1">
                <a:solidFill>
                  <a:srgbClr val="F7F9FF"/>
                </a:solidFill>
              </a:rPr>
              <a:t>Инкрементальная</a:t>
            </a:r>
            <a:r>
              <a:rPr lang="en-US" sz="2650" b="1" dirty="0">
                <a:solidFill>
                  <a:srgbClr val="F7F9FF"/>
                </a:solidFill>
              </a:rPr>
              <a:t> витрина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Пересчитать последние 3 дня из-за запоздавших событий.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идемпотентность, delete+insert, окно переобработки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BEGIN;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DELETE FROM mart_orders_daily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WHERE dt &gt;= CURRENT_DATE - INTERVAL '3 days';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INSERT INTO mart_orders_daily (dt, orders_cnt, paid_orders_cnt, revenue)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created_at::date AS dt,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COUNT(*) AS orders_cnt,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COUNT(*) FILTER (WHERE paid_at IS NOT NULL) AS paid_orders_cnt,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SUM(amount) FILTER (WHERE paid_at IS NOT NULL) AS revenue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FROM orders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WHERE created_at::date &gt;= CURRENT_DATE - INTERVAL '3 days'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GROUP BY created_at::date;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COMMIT;</a:t>
            </a:r>
            <a:endParaRPr lang="en-US" sz="63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SQL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 План выполнения BI-запроса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Dashboard считает count distinct по сырой таблице за год.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SQL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партиции, предагрегация, EXPLAIN, стоимость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6995160" cy="484632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77393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EXPLAIN (ANALYZE, BUFFERS)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SELECT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event_dt,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product_id,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COUNT(DISTINCT user_id) AS active_users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FROM raw_events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WHERE event_dt &gt;= CURRENT_DATE - INTERVAL '365 days'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GROUP BY event_dt, product_id;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-- production-вариант: ежедневная витрина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CREATE MATERIALIZED VIEW mart_user_activity_daily AS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SELECT event_dt, product_id, user_id, COUNT(*) AS event_cnt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FROM raw_events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WHERE event_dt &gt;= CURRENT_DATE - INTERVAL '400 days'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GROUP BY event_dt, product_id, user_id;</a:t>
            </a:r>
            <a:endParaRPr lang="en-US" sz="63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78638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7F9FF"/>
                </a:solidFill>
              </a:rPr>
              <a:t>Python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скользящее окно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67128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два указателя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48456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heap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9784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стек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11112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prefix sum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9244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графы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8412480" cy="0"/>
          </a:xfrm>
          <a:prstGeom prst="line">
            <a:avLst/>
          </a:prstGeom>
          <a:noFill/>
          <a:ln w="12700">
            <a:solidFill>
              <a:srgbClr val="FF6B6B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Longest Substring Without Repeating Characters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Максимальная длина подстроки без повторяющихся символов.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окно, словарь последних позиций, O(n)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829300" y="4474273"/>
            <a:ext cx="2801493" cy="1457325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3892" y="2889504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def length_of_longest_substring(s: str) -&gt; int: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  left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pos = {}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best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for right, ch in enumerate(s):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    if ch in pos and pos[ch] &gt;= left: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        left = pos[ch] + 1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    pos[ch] = right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best = max(best, right - left + 1)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return best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97FC5E2-7423-C4D0-6547-8D7FBB620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038" y="1867371"/>
            <a:ext cx="5138928" cy="238259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Longest Repeating Character Replacement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Самая длинная подстрока после не более k замен.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окно, частоты, max_freq, O(n)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594860" y="3719322"/>
            <a:ext cx="3126029" cy="250317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4603" y="2596896"/>
            <a:ext cx="289171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collections import defaultdict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def character_replacement(s: str, k: int) -&gt; int: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left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freq = defaultdict(int)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max_freq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best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for right, ch in enumerate(s):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freq[ch]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max_freq = max(max_freq, freq[ch])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while (right - left + 1) - max_freq &gt; k: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       freq[s[left]] -=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       left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        best = max(best, right - left + 1)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    return best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A95283D-9ADB-E3EF-9D01-194AF678C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909" y="1172570"/>
            <a:ext cx="4124020" cy="32144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Minimum Window Substring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Минимальное окно в s, содержащее все символы t.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Counter, missing, сжатие окна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49546" y="3904488"/>
            <a:ext cx="4190885" cy="2615184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023" y="2889504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collections import Counter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def min_window(s: str, t: str) -&gt; str: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need = Counter(t)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missing = len(t)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left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best_left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best_len = float('inf')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for right, ch in enumerate(s, 1):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if need[ch] &gt; 0: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    missing -=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need[ch] -=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   while missing == 0: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       if right - left &lt; best_len: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                best_left = left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                best_len = right - left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            need[s[left]]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            if need[s[left]] &gt; 0: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                missing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            left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    return '' if best_len == float('inf') else s[best_left:best_left + best_len]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6E36D2-AD90-881F-4F95-72C5C79AB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790" y="680273"/>
            <a:ext cx="3454146" cy="30011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Sliding Window Maximum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Максимум в каждом окне размера k.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монотонная очередь, O(n)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4208526"/>
            <a:ext cx="3319272" cy="2185416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987802"/>
            <a:ext cx="3227832" cy="448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collections import deque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def max_sliding_window(nums: List[int], k: int) -&gt; List[int]: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dq = deque()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out = []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for i, val in enumerate(nums):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    while dq and dq[0] &lt;= i - k: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    dq.popleft()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while dq and nums[dq[-1]] &lt;= val: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    dq.pop()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dq.append(i)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   if i &gt;= k - 1: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       out.append(nums[dq[0]])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    return out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707579-1E50-39E1-575D-7E63BCD53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162" y="1151616"/>
            <a:ext cx="3453078" cy="28905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Subarray Sum Equals K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Количество подмассивов с суммой k.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prefix sum, hashmap, отрицательные числа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64608" y="2039112"/>
            <a:ext cx="2891790" cy="182880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67665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collections import defaultdict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def subarray_sum(nums: List[int], k: int) -&gt; int: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seen = defaultdict(int)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seen[0] 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pref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total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for val in nums: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pref += val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total += seen[pref - k]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seen[pref]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return total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7E21C6-C687-B86D-8B6C-D8C28A4D5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941064"/>
            <a:ext cx="4642310" cy="262286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Top K Frequent Elements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Вернуть k самых частых элементов.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Counter + heap, ties, O(n log k)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7928" y="2055114"/>
            <a:ext cx="3543300" cy="1764792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7656" y="656082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collections import Counter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import heapq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def top_k_frequent(nums: List[int], k: int) -&gt; List[int]: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freq = Counter(nums)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heap = []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for value, count in freq.items():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heapq.heappush(heap, (count, value))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if len(heap) &gt; k: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    heapq.heappop(heap)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return [value for count, value in sorted(heap, reverse=True)]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CE2821-613F-7C55-7F1F-7414E9412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954780"/>
            <a:ext cx="356966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29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Merge Intervals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Объединить пересекающиеся интервалы.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сортировка, границы, O(n log n)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3154680" cy="1993392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7656" y="310896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def merge(intervals: List[List[int]]) -&gt; List[List[int]]: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if not intervals: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    return []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intervals.sort(key=lambda x: (x[0], x[1]))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merged = [intervals[0][:]]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for start, end in intervals[1:]: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if start &lt;= merged[-1][1]: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    merged[-1][1] = max(merged[-1][1], end)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else: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       merged.append([start, end])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return merged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E8E04F2-26C9-A52F-59A9-2235DB35A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3281934"/>
            <a:ext cx="3827944" cy="30190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Trapping Rain Water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Посчитать объем воды между столбцами.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два указателя, max слева/справа, O(n)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46320" y="3346704"/>
            <a:ext cx="3154680" cy="2267712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157984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def trap(height: List[int]) -&gt; int: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left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right = len(height) - 1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left_max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right_max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water = 0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while left &lt; right: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if height[left] &lt; height[right]: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       left_max = max(left_max, height[left])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        water += left_max - height[left]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            left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   else: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       right_max = max(right_max, height[right])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            water += right_max - height[right]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            right -=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    return water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6A8DD8-3FFA-4E03-EDB8-A134C5E2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756" y="1168781"/>
            <a:ext cx="3753968" cy="31654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Daily Temperatures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Для каждого дня найти ожидание до более теплого дня.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D166">
              <a:alpha val="14000"/>
            </a:srgbClr>
          </a:solidFill>
          <a:ln w="12700">
            <a:solidFill>
              <a:srgbClr val="FFD166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166"/>
                </a:solidFill>
              </a:rPr>
              <a:t>Medium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монотонный стек, индексы, O(n)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666488" y="3877056"/>
            <a:ext cx="3319272" cy="1691640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6216" y="2478024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def daily_temperatures(temperatures: List[int]) -&gt; List[int]: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ans = [0] * len(temperatures)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stack = []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for i, temp in enumerate(temperatures):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    while stack and temperatures[stack[-1]] &lt; temp: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        prev = stack.pop()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    ans[prev] = i - prev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   stack.append(i)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return ans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5B3685C-31B2-F743-2D86-D545F8D1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551" y="699688"/>
            <a:ext cx="4345809" cy="3021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PYTHON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Course Schedule II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Вернуть порядок курсов или пустой список при цикле.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658368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5506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Python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35024" y="1581912"/>
            <a:ext cx="786384" cy="301752"/>
          </a:xfrm>
          <a:prstGeom prst="roundRect">
            <a:avLst>
              <a:gd name="adj" fmla="val 12121"/>
            </a:avLst>
          </a:prstGeom>
          <a:solidFill>
            <a:srgbClr val="FF6B6B">
              <a:alpha val="14000"/>
            </a:srgbClr>
          </a:solidFill>
          <a:ln w="12700">
            <a:solidFill>
              <a:srgbClr val="FF6B6B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165506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</a:rPr>
              <a:t>Hard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3794760" cy="1024128"/>
          </a:xfrm>
          <a:prstGeom prst="roundRect">
            <a:avLst>
              <a:gd name="adj" fmla="val 625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31136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проверяют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804672" y="2596896"/>
            <a:ext cx="34655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граф, indegree, топологическая сортировка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7530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Граничные случаи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804672" y="3941064"/>
            <a:ext cx="346557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дубли, NULL/пустой вход, равные значения, границы периода, большие данные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3794760" cy="822960"/>
          </a:xfrm>
          <a:prstGeom prst="roundRect">
            <a:avLst>
              <a:gd name="adj" fmla="val 777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93776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Проверка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804672" y="5303520"/>
            <a:ext cx="34655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EB8D0"/>
                </a:solidFill>
              </a:rPr>
              <a:t>контроль строк, сумм, distinct-ключей, времени и сложности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611624" y="3394837"/>
            <a:ext cx="4217670" cy="2569464"/>
          </a:xfrm>
          <a:prstGeom prst="roundRect">
            <a:avLst>
              <a:gd name="adj" fmla="val 755"/>
            </a:avLst>
          </a:prstGeom>
          <a:solidFill>
            <a:srgbClr val="050813"/>
          </a:solidFill>
          <a:ln w="12700">
            <a:solidFill>
              <a:srgbClr val="3B46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6216" y="2377440"/>
            <a:ext cx="677570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from collections import defaultdict, deque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from typing import List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def find_order(num_courses: int, prerequisites: List[List[int]]) -&gt; List[int]: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graph = defaultdict(list)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indeg = [0] * num_courses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for course, prereq in prerequisites: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    graph[prereq].append(course)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    indeg[course] +=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queue = deque([i for i in range(num_courses) if indeg[i] == 0])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order = []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while queue: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   node = queue.popleft()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        order.append(node)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        for nxt in graph[node]: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            indeg[nxt] -= 1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            if indeg[nxt] == 0: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                queue.append(nxt)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endParaRPr lang="en-US" sz="635" dirty="0"/>
          </a:p>
          <a:p>
            <a:pPr marL="0" indent="0">
              <a:buNone/>
            </a:pPr>
            <a:r>
              <a:rPr lang="en-US" sz="635" dirty="0">
                <a:solidFill>
                  <a:srgbClr val="F7F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    return order if len(order) == num_courses else []</a:t>
            </a:r>
            <a:endParaRPr lang="en-US" sz="63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99B806-A157-7C34-938B-F871306E2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424" y="511810"/>
            <a:ext cx="3848904" cy="260629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78638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7F9FF"/>
                </a:solidFill>
              </a:rPr>
              <a:t>Инструменты Data Engineering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8D0"/>
                </a:solidFill>
              </a:rPr>
              <a:t>Не названия технологий, а механика: как система работает при сбое и росте объема.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Airflow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67128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Spark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48456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Kafka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9784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DWH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11112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качество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9244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SLA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8412480" cy="0"/>
          </a:xfrm>
          <a:prstGeom prst="line">
            <a:avLst/>
          </a:prstGeom>
          <a:noFill/>
          <a:ln w="12700">
            <a:solidFill>
              <a:srgbClr val="4DE6A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Airflow: идемпотентный запуск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DAG упал посередине и перезапущен. Как не получить дубли?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staging → проверки → атомарная замена партиции; ключ </a:t>
            </a:r>
            <a:r>
              <a:rPr lang="en-US" sz="1250" dirty="0" err="1">
                <a:solidFill>
                  <a:srgbClr val="AEB8D0"/>
                </a:solidFill>
              </a:rPr>
              <a:t>запуска</a:t>
            </a:r>
            <a:r>
              <a:rPr lang="en-US" sz="1250" dirty="0">
                <a:solidFill>
                  <a:srgbClr val="AEB8D0"/>
                </a:solidFill>
              </a:rPr>
              <a:t> - дата данных, не текущее время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уникальность ключа, row count, суммы, freshness, лог загрузки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Airflow: backfill без слома SLA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Нужно пересчитать год истории и не сорвать ежедневный отчет.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отдельный backfill-run, лимит parallelism, приоритет ежедневного контура, пересчет партициями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нагрузка на источник, блокировки, версия бизнес-логики, контроль итогов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Spark: джоба стала медленной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20 минут превратились в 2 часа. Что смотреть?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physical plan, shuffle read/write, skew, spill, small files, broadcast join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фильтр раньше, repartition, salting, compact, target file size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Spark: перекос данных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Одна партиция выполняется в 10 раз дольше остальных.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найти горячий ключ; salting, предварительная агрегация, AQE, отдельная обработка heavy hitters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распределение строк по ключам, stage timeline, shuffle partitions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Kafka: выбор ключа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Как выбрать key для топика заказов?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AEB8D0"/>
                </a:solidFill>
              </a:rPr>
              <a:t>order_id</a:t>
            </a:r>
            <a:r>
              <a:rPr lang="en-US" sz="1250" dirty="0">
                <a:solidFill>
                  <a:srgbClr val="AEB8D0"/>
                </a:solidFill>
              </a:rPr>
              <a:t> - порядок событий заказа; </a:t>
            </a:r>
            <a:r>
              <a:rPr lang="en-US" sz="1250" dirty="0" err="1">
                <a:solidFill>
                  <a:srgbClr val="AEB8D0"/>
                </a:solidFill>
              </a:rPr>
              <a:t>user_id</a:t>
            </a:r>
            <a:r>
              <a:rPr lang="en-US" sz="1250" dirty="0">
                <a:solidFill>
                  <a:srgbClr val="AEB8D0"/>
                </a:solidFill>
              </a:rPr>
              <a:t> - пользовательская последовательность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равномерность распределения против порядка внутри ключа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39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Kafka: late events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События приходят с задержкой. Как считать метрики?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event_time, watermark, окно переобработки, correction events, пересчет партиций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в BI показывать дату события и дату загрузки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DWH: raw / stage / mart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Зачем делить слои хранилища?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raw - неизменная копия; stage - нормализация; mart - бизнес-логика для потребления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версионирование трансформаций, lineage, ответственность владельцев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Data contracts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Источник поменял amount на total_amount. Что должно произойти?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schema validation, контракт полей, совместимость изменений, алерт до витрины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nullable, типы, семантика, владелец, процедура изменения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Наблюдаемость данных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Что мониторить кроме “DAG зеленый”?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freshness, volume, NULL rate, duplicate rate, drift, стоимость запроса, time-to-ready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алерт привязан к бизнес-impact и владельцу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DE TOOLS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Безопасность данных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Как хранить персональные данные в аналитике?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89204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Сильный ответ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56285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минимизация raw-доступа, маскирование, токенизация, роли, аудит запросов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526280" cy="1920240"/>
          </a:xfrm>
          <a:prstGeom prst="roundRect">
            <a:avLst>
              <a:gd name="adj" fmla="val 3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Что назвать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197096" cy="1261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EB8D0"/>
                </a:solidFill>
              </a:rPr>
              <a:t>в витринах surrogate_id, не телефон/email; доступы по назначению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43000" y="4617720"/>
            <a:ext cx="9738360" cy="777240"/>
          </a:xfrm>
          <a:prstGeom prst="roundRect">
            <a:avLst>
              <a:gd name="adj" fmla="val 823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764024"/>
            <a:ext cx="9409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Формула ответа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307592" y="5129784"/>
            <a:ext cx="94091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EB8D0"/>
                </a:solidFill>
              </a:rPr>
              <a:t>контекст → механизм → контроль качества → эксплуатация → поведение при сбое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78638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7F9FF"/>
                </a:solidFill>
              </a:rPr>
              <a:t>Кейсы аналитики и инженерии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8D0"/>
                </a:solidFill>
              </a:rPr>
              <a:t>Секция для сильных кандидатов: найти причину, проверить данные, предложить действие.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метрики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67128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инциденты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48456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5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DAGs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9784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деньги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11112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5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логистика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9244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качество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8412480" cy="0"/>
          </a:xfrm>
          <a:prstGeom prst="line">
            <a:avLst/>
          </a:prstGeom>
          <a:noFill/>
          <a:ln w="12700">
            <a:solidFill>
              <a:srgbClr val="A78BFA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1: 1000 DAGs в Airflow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Как объективно проверить, какие пайплайны реально работают, а какие только существуют?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не “зеленый/красный DAG”, а бизнес-готовность данных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собрать run history, SLA miss, duration, failed tasks, retries, owner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сверить выходные таблицы: freshness, row count, дата последней публикации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разделить: активные, деградирующие, мертвые, без владельца, без потребителей</a:t>
            </a:r>
            <a:endParaRPr lang="en-US" sz="10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2: отчет CEO показывает падение выручки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Как отделить реальное падение бизнеса от ошибки данных?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сначала freshness, полнота, row count, платежная сверка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потом декомпозиция: канал, регион, категория, платформа, способ оплаты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проверить релизы, схему источника, лаги, статусы, timezone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дать статус надежности: данные подтверждены / под вопросом</a:t>
            </a:r>
            <a:endParaRPr lang="en-US" sz="10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3: не сходятся оплаты и заказы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Платежный шлюз показывает больше денег, чем витрина заказов.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ключи сверки: payment_id, order_id, amount, currency, status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cutoff time, refund, chargeback, timezone, дубли событий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таблица расхождений: тип причины, сумма impact, владелец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правило публикации: финансовые витрины после reconciliation</a:t>
            </a:r>
            <a:endParaRPr lang="en-US" sz="10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4: поиск стал давать больше кликов, но меньше покупок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CTR вырос, conversion to purchase упал.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проверить zero-result, CTR, add_to_cart, purchase_after_search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срезы: запрос, категория, позиция выдачи, наличие, цена, доставка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возможная причина: кликбейт выдачи или out-of-stock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решение: метрика качества поиска должна идти дальше клика</a:t>
            </a:r>
            <a:endParaRPr lang="en-US" sz="10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49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5: доставка начала опаздывать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P90 времени доставки вырос на 18%.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разделить promised_at и delivered_at, не среднее, а p90/p95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срезы: город, зона, склад, слот, курьер, тип заказа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исключить проблему данных: смена статусов, пустые timestamps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выход: карта горячих зон и причина нарушения SLA</a:t>
            </a:r>
            <a:endParaRPr lang="en-US" sz="10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6: GMV вырос, прибыль упала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Рост продаж не превратился в деньги.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разложить: выручка, скидки, доставка, себестоимость, возвраты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срезы: категория, регион, канал, промо, новый/старый клиент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проверить долю низкомаржинальных товаров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решение: не оптимизировать GMV отдельно от маржи</a:t>
            </a:r>
            <a:endParaRPr lang="en-US" sz="10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7: витрина обновляется поздно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Отчет должен быть готов в 09:00, но готов в 09:40.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найти critical path DAG: самая длинная цепочка задач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разделить ожидание источника, compute, locks, BI refresh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ускорение: pre-aggregation, parallelism, партиции, отдельный SLA-контур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алерт до нарушения: forecast SLA miss</a:t>
            </a:r>
            <a:endParaRPr lang="en-US" sz="10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8: витрина товаров дает неверный топ SKU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Топ товаров меняется после обновления задним числом.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проверить late events, отмены, возвраты, replacements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отделить заказанные, оплаченные, доставленные, возвращенные штуки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grain: order_item, а не order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закрытие периода: freeze + correction process</a:t>
            </a:r>
            <a:endParaRPr lang="en-US" sz="10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9: метрика активных пользователей резко выросла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MAU вырос на 30% за день. Реальность или баг?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проверить определение активности и источник событий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изменение SDK, дубли event_id, бот-трафик, timezone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срезы: app_version, device, country, event_name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решение: data quality guardrail перед публикацией</a:t>
            </a:r>
            <a:endParaRPr lang="en-US" sz="10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10: источник поменял схему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Колонка есть, но смысл изменился.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контракт данных должен описывать не только тип, но и семантику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проверить распределения до/после, NULL rate, уникальность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остановить публикацию критичной витрины при breaking change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завести версию трансформации и уведомление потребителей</a:t>
            </a:r>
            <a:endParaRPr lang="en-US" sz="10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11: дорого работает BI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Дашборд грузится 2 минуты и дорогой для кластера.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уменьшить уровень строки: daily/user/product aggregate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материализованные витрины, партиции, precomputed metrics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ограничить ad-hoc count distinct по сырью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следить за query cost и cache hit</a:t>
            </a:r>
            <a:endParaRPr lang="en-US" sz="10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КЕЙСЫ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 12: поддержка спорит с аналитикой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Один отдел видит 10% отмен, другой 14%.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зафиксировать статусную модель и момент признания отмены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182880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75104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2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00800" y="2340864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различить order-level и item-level cancellation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согласовать слой единой бизнес-логики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401568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47872"/>
            <a:ext cx="4471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Шаг 4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00800" y="3913632"/>
            <a:ext cx="447141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EB8D0"/>
                </a:solidFill>
              </a:rPr>
              <a:t>создать semantic layer с владельцем метрики</a:t>
            </a:r>
            <a:endParaRPr lang="en-US" sz="10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92" y="78638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7F9FF"/>
                </a:solidFill>
              </a:rPr>
              <a:t>System design: архитектурная встреча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8D0"/>
                </a:solidFill>
              </a:rPr>
              <a:t>Кейс: аналитическая платформа заказов, оплат, логистики и BI для маркетплейса.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67A7FF">
              <a:alpha val="14000"/>
            </a:srgbClr>
          </a:solidFill>
          <a:ln w="12700">
            <a:solidFill>
              <a:srgbClr val="67A7FF">
                <a:alpha val="5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7A7FF"/>
                </a:solidFill>
              </a:rPr>
              <a:t>требования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67128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источники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48456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67A7FF">
              <a:alpha val="14000"/>
            </a:srgbClr>
          </a:solidFill>
          <a:ln w="12700">
            <a:solidFill>
              <a:srgbClr val="67A7FF">
                <a:alpha val="5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7A7FF"/>
                </a:solidFill>
              </a:rPr>
              <a:t>схема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29784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витрины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11112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67A7FF">
              <a:alpha val="14000"/>
            </a:srgbClr>
          </a:solidFill>
          <a:ln w="12700">
            <a:solidFill>
              <a:srgbClr val="67A7FF">
                <a:alpha val="5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7A7FF"/>
                </a:solidFill>
              </a:rPr>
              <a:t>SLA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92440" y="2514600"/>
            <a:ext cx="1170432" cy="301752"/>
          </a:xfrm>
          <a:prstGeom prst="roundRect">
            <a:avLst>
              <a:gd name="adj" fmla="val 12121"/>
            </a:avLst>
          </a:prstGeom>
          <a:solidFill>
            <a:srgbClr val="4DE6A8">
              <a:alpha val="14000"/>
            </a:srgbClr>
          </a:solidFill>
          <a:ln w="12700">
            <a:solidFill>
              <a:srgbClr val="4DE6A8">
                <a:alpha val="5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2587752"/>
            <a:ext cx="987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DE6A8"/>
                </a:solidFill>
              </a:rPr>
              <a:t>качество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8412480" cy="0"/>
          </a:xfrm>
          <a:prstGeom prst="line">
            <a:avLst/>
          </a:prstGeom>
          <a:noFill/>
          <a:ln w="12700">
            <a:solidFill>
              <a:srgbClr val="67A7FF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Архитектурная сетка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Не рисуем “много коробок”: идем по уровням решения.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154680" cy="1325880"/>
          </a:xfrm>
          <a:prstGeom prst="roundRect">
            <a:avLst>
              <a:gd name="adj" fmla="val 482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293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1. Требования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96112" y="2295144"/>
            <a:ext cx="28254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EB8D0"/>
                </a:solidFill>
              </a:rPr>
              <a:t>freshness, SLA, история, роли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154680" cy="1325880"/>
          </a:xfrm>
          <a:prstGeom prst="roundRect">
            <a:avLst>
              <a:gd name="adj" fmla="val 482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9293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2. Источники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599432" y="2295144"/>
            <a:ext cx="28254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EB8D0"/>
                </a:solidFill>
              </a:rPr>
              <a:t>orders, payments, delivery, events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154680" cy="1325880"/>
          </a:xfrm>
          <a:prstGeom prst="roundRect">
            <a:avLst>
              <a:gd name="adj" fmla="val 482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9293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3. Ingestion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302752" y="2295144"/>
            <a:ext cx="28254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EB8D0"/>
                </a:solidFill>
              </a:rPr>
              <a:t>CDC, batch, Kafka, contracts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3154680" cy="1325880"/>
          </a:xfrm>
          <a:prstGeom prst="roundRect">
            <a:avLst>
              <a:gd name="adj" fmla="val 482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0390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4. DWH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96112" y="4169664"/>
            <a:ext cx="28254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EB8D0"/>
                </a:solidFill>
              </a:rPr>
              <a:t>raw, stage, core, marts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434840" y="3657600"/>
            <a:ext cx="3154680" cy="1325880"/>
          </a:xfrm>
          <a:prstGeom prst="roundRect">
            <a:avLst>
              <a:gd name="adj" fmla="val 482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67A7FF">
                <a:alpha val="4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80390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5. BI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599432" y="4169664"/>
            <a:ext cx="28254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EB8D0"/>
                </a:solidFill>
              </a:rPr>
              <a:t>semantic layer, dashboards, alerts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138160" y="3657600"/>
            <a:ext cx="3154680" cy="1325880"/>
          </a:xfrm>
          <a:prstGeom prst="roundRect">
            <a:avLst>
              <a:gd name="adj" fmla="val 4828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380390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6. Ops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8302752" y="4169664"/>
            <a:ext cx="282549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AEB8D0"/>
                </a:solidFill>
              </a:rPr>
              <a:t>quality, lineage, backfill, security</a:t>
            </a:r>
            <a:endParaRPr lang="en-US" sz="10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59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Кейс: постановка задачи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Спроектировать платформу для заказов, оплат, доставки, товарной аналитики и руководительского BI.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383280" cy="2011680"/>
          </a:xfrm>
          <a:prstGeom prst="roundRect">
            <a:avLst>
              <a:gd name="adj" fmla="val 3182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SLA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305409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операционный BI ≤ 15 минут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финансовая сверка D+1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история 3 года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383280" cy="2011680"/>
          </a:xfrm>
          <a:prstGeom prst="roundRect">
            <a:avLst>
              <a:gd name="adj" fmla="val 3182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97510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Объем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599432" y="2340864"/>
            <a:ext cx="305409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события приложения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заказы и позиции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платежи, возвраты, доставка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2011680"/>
          </a:xfrm>
          <a:prstGeom prst="roundRect">
            <a:avLst>
              <a:gd name="adj" fmla="val 3182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97510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Ограничения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211312" y="2340864"/>
            <a:ext cx="3054096" cy="1353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PII, роли, аудит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late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изменения схемы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4709160"/>
            <a:ext cx="9784080" cy="685800"/>
          </a:xfrm>
          <a:prstGeom prst="roundRect">
            <a:avLst>
              <a:gd name="adj" fmla="val 9333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61872" y="4855464"/>
            <a:ext cx="9454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Главная идея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1261872" y="5221224"/>
            <a:ext cx="9454896" cy="27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EB8D0"/>
                </a:solidFill>
              </a:rPr>
              <a:t>разделить контур свежести и контур финансовой точности: разные SLA, разные проверки, разные витрины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Целевая схема данных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Поток от источников до BI с разделением контуров.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2148840" y="2788920"/>
            <a:ext cx="731520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2788920"/>
            <a:ext cx="731520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55080" y="2788920"/>
            <a:ext cx="731520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58200" y="2788920"/>
            <a:ext cx="731520" cy="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0" y="3886200"/>
            <a:ext cx="0" cy="77724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26680" y="3886200"/>
            <a:ext cx="0" cy="77724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784080" y="3886200"/>
            <a:ext cx="0" cy="777240"/>
          </a:xfrm>
          <a:prstGeom prst="line">
            <a:avLst/>
          </a:prstGeom>
          <a:noFill/>
          <a:ln w="12700">
            <a:solidFill>
              <a:srgbClr val="3B4663">
                <a:alpha val="85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2057400"/>
            <a:ext cx="1554480" cy="1463040"/>
          </a:xfrm>
          <a:prstGeom prst="roundRect">
            <a:avLst>
              <a:gd name="adj" fmla="val 437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20370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Источники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758952" y="2569464"/>
            <a:ext cx="122529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Orders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Payments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Delivery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Events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880360" y="2057400"/>
            <a:ext cx="1371600" cy="1463040"/>
          </a:xfrm>
          <a:prstGeom prst="roundRect">
            <a:avLst>
              <a:gd name="adj" fmla="val 466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22037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Ingestion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3044952" y="2569464"/>
            <a:ext cx="104241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CDC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Batch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Kafka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983480" y="2057400"/>
            <a:ext cx="1371600" cy="1463040"/>
          </a:xfrm>
          <a:prstGeom prst="roundRect">
            <a:avLst>
              <a:gd name="adj" fmla="val 466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8072" y="22037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Raw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5148072" y="2569464"/>
            <a:ext cx="104241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копия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источника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086600" y="2057400"/>
            <a:ext cx="1371600" cy="1463040"/>
          </a:xfrm>
          <a:prstGeom prst="roundRect">
            <a:avLst>
              <a:gd name="adj" fmla="val 4667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22037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Core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7251192" y="2569464"/>
            <a:ext cx="104241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facts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dimensions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9189720" y="2057400"/>
            <a:ext cx="1600200" cy="1463040"/>
          </a:xfrm>
          <a:prstGeom prst="roundRect">
            <a:avLst>
              <a:gd name="adj" fmla="val 437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67A7FF">
                <a:alpha val="44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54312" y="22037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BI</a:t>
            </a:r>
            <a:endParaRPr lang="en-US" sz="1260" dirty="0"/>
          </a:p>
        </p:txBody>
      </p:sp>
      <p:sp>
        <p:nvSpPr>
          <p:cNvPr id="29" name="Text 27"/>
          <p:cNvSpPr/>
          <p:nvPr/>
        </p:nvSpPr>
        <p:spPr>
          <a:xfrm>
            <a:off x="9354312" y="2569464"/>
            <a:ext cx="127101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marts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semantic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709160" y="46634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480974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Quality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4873752" y="5175504"/>
            <a:ext cx="14996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checks + quarantine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766560" y="46634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9F43">
                <a:alpha val="44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480974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Ops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931152" y="5175504"/>
            <a:ext cx="14996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SLA + lineage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823960" y="46634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88552" y="480974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Security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8988552" y="5175504"/>
            <a:ext cx="14996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AEB8D0"/>
                </a:solidFill>
              </a:rPr>
              <a:t>roles + audit</a:t>
            </a:r>
            <a:endParaRPr lang="en-US" sz="93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Источники и ключи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Каждый источник описывается одинаково: владелец, ключ, инкремент, задержка.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49808" y="1737360"/>
            <a:ext cx="3154680" cy="1188720"/>
          </a:xfrm>
          <a:prstGeom prst="roundRect">
            <a:avLst>
              <a:gd name="adj" fmla="val 53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836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Orders DB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14400" y="2249424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D0"/>
                </a:solidFill>
              </a:rPr>
              <a:t>order_id, user_id, status, created_at, paid_at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53128" y="1737360"/>
            <a:ext cx="3154680" cy="1188720"/>
          </a:xfrm>
          <a:prstGeom prst="roundRect">
            <a:avLst>
              <a:gd name="adj" fmla="val 53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836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Payments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617720" y="2249424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D0"/>
                </a:solidFill>
              </a:rPr>
              <a:t>payment_id, order_id, amount, status, refund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154680" cy="1188720"/>
          </a:xfrm>
          <a:prstGeom prst="roundRect">
            <a:avLst>
              <a:gd name="adj" fmla="val 53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836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Delivery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321040" y="2249424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D0"/>
                </a:solidFill>
              </a:rPr>
              <a:t>delivery_id, courier_id, promised_at, delivered_at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" y="3566160"/>
            <a:ext cx="3154680" cy="1188720"/>
          </a:xfrm>
          <a:prstGeom prst="roundRect">
            <a:avLst>
              <a:gd name="adj" fmla="val 53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124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Catalog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14400" y="4078224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D0"/>
                </a:solidFill>
              </a:rPr>
              <a:t>item_id, category_id, price, availability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53128" y="3566160"/>
            <a:ext cx="3154680" cy="1188720"/>
          </a:xfrm>
          <a:prstGeom prst="roundRect">
            <a:avLst>
              <a:gd name="adj" fmla="val 53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67A7FF">
                <a:alpha val="4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7124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App events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617720" y="4078224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D0"/>
                </a:solidFill>
              </a:rPr>
              <a:t>event_id, user_id, event_time, session_id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56448" y="3566160"/>
            <a:ext cx="3154680" cy="1188720"/>
          </a:xfrm>
          <a:prstGeom prst="roundRect">
            <a:avLst>
              <a:gd name="adj" fmla="val 5385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7124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Support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8321040" y="4078224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D0"/>
                </a:solidFill>
              </a:rPr>
              <a:t>ticket_id, order_id, reason, resolution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Модель данных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Факты и измерения под разные вопросы бизнеса.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4754880" cy="3017520"/>
          </a:xfrm>
          <a:prstGeom prst="roundRect">
            <a:avLst>
              <a:gd name="adj" fmla="val 2121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Факты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4425696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fact_order</a:t>
            </a:r>
            <a:r>
              <a:rPr lang="en-US" sz="1200" dirty="0">
                <a:solidFill>
                  <a:srgbClr val="AEB8D0"/>
                </a:solidFill>
              </a:rPr>
              <a:t> - экономика заказа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fact_order_item</a:t>
            </a:r>
            <a:r>
              <a:rPr lang="en-US" sz="1200" dirty="0">
                <a:solidFill>
                  <a:srgbClr val="AEB8D0"/>
                </a:solidFill>
              </a:rPr>
              <a:t> - товарная аналитика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fact_payment</a:t>
            </a:r>
            <a:r>
              <a:rPr lang="en-US" sz="1200" dirty="0">
                <a:solidFill>
                  <a:srgbClr val="AEB8D0"/>
                </a:solidFill>
              </a:rPr>
              <a:t> - деньги и сверка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fact_delivery_event</a:t>
            </a:r>
            <a:r>
              <a:rPr lang="en-US" sz="1200" dirty="0">
                <a:solidFill>
                  <a:srgbClr val="AEB8D0"/>
                </a:solidFill>
              </a:rPr>
              <a:t> - логистика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fact_user_event</a:t>
            </a:r>
            <a:r>
              <a:rPr lang="en-US" sz="1200" dirty="0">
                <a:solidFill>
                  <a:srgbClr val="AEB8D0"/>
                </a:solidFill>
              </a:rPr>
              <a:t> - воронка и поиск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754880" cy="3017520"/>
          </a:xfrm>
          <a:prstGeom prst="roundRect">
            <a:avLst>
              <a:gd name="adj" fmla="val 2121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975104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Измерения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611112" y="2340864"/>
            <a:ext cx="4425696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dim_user</a:t>
            </a:r>
            <a:r>
              <a:rPr lang="en-US" sz="1200" dirty="0">
                <a:solidFill>
                  <a:srgbClr val="AEB8D0"/>
                </a:solidFill>
              </a:rPr>
              <a:t> - клиент без PII в витринах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dim_item</a:t>
            </a:r>
            <a:r>
              <a:rPr lang="en-US" sz="1200" dirty="0">
                <a:solidFill>
                  <a:srgbClr val="AEB8D0"/>
                </a:solidFill>
              </a:rPr>
              <a:t> - товар и категория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dim_store / </a:t>
            </a:r>
            <a:r>
              <a:rPr lang="en-US" sz="1200" dirty="0" err="1">
                <a:solidFill>
                  <a:srgbClr val="AEB8D0"/>
                </a:solidFill>
              </a:rPr>
              <a:t>dim_region</a:t>
            </a:r>
            <a:r>
              <a:rPr lang="en-US" sz="1200" dirty="0">
                <a:solidFill>
                  <a:srgbClr val="AEB8D0"/>
                </a:solidFill>
              </a:rPr>
              <a:t> - география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dim_courier</a:t>
            </a:r>
            <a:r>
              <a:rPr lang="en-US" sz="1200" dirty="0">
                <a:solidFill>
                  <a:srgbClr val="AEB8D0"/>
                </a:solidFill>
              </a:rPr>
              <a:t> - логистика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AEB8D0"/>
                </a:solidFill>
              </a:rPr>
              <a:t>dim_calendar</a:t>
            </a:r>
            <a:r>
              <a:rPr lang="en-US" sz="1200" dirty="0">
                <a:solidFill>
                  <a:srgbClr val="AEB8D0"/>
                </a:solidFill>
              </a:rPr>
              <a:t> - даты и периоды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Витрины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Главный принцип: один уровень </a:t>
            </a:r>
            <a:r>
              <a:rPr lang="en-US" sz="1230" dirty="0" err="1">
                <a:solidFill>
                  <a:srgbClr val="AEB8D0"/>
                </a:solidFill>
              </a:rPr>
              <a:t>строки</a:t>
            </a:r>
            <a:r>
              <a:rPr lang="en-US" sz="1230" dirty="0">
                <a:solidFill>
                  <a:srgbClr val="AEB8D0"/>
                </a:solidFill>
              </a:rPr>
              <a:t> - одна бизнес-задача.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4892040" cy="1298448"/>
          </a:xfrm>
          <a:prstGeom prst="roundRect">
            <a:avLst>
              <a:gd name="adj" fmla="val 493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2938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mart_orders_daily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295144"/>
            <a:ext cx="4562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dt × region × channel × category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заказы, оплаты, выручка, прибыль, отмены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4892040" cy="1298448"/>
          </a:xfrm>
          <a:prstGeom prst="roundRect">
            <a:avLst>
              <a:gd name="adj" fmla="val 493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92938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mart_items_daily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73952" y="2295144"/>
            <a:ext cx="4562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dt × item_id × category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штуки, выручка, маржа, out-of-stock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4892040" cy="1298448"/>
          </a:xfrm>
          <a:prstGeom prst="roundRect">
            <a:avLst>
              <a:gd name="adj" fmla="val 493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75818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mart_delivery_daily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87552" y="4123944"/>
            <a:ext cx="4562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dt × city × zone × courier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SLA, p90 delay, отмены после задержки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309360" y="3611880"/>
            <a:ext cx="4892040" cy="1298448"/>
          </a:xfrm>
          <a:prstGeom prst="roundRect">
            <a:avLst>
              <a:gd name="adj" fmla="val 493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758184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mart_search_daily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73952" y="4123944"/>
            <a:ext cx="4562856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dt × query × category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AEB8D0"/>
                </a:solidFill>
              </a:rPr>
              <a:t>zero-result, CTR, cart, purchase</a:t>
            </a:r>
            <a:endParaRPr lang="en-US" sz="101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Метрики витрины заказов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Показываем не список графиков, а дерево управленческого решения.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68680" y="1901952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8288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оборот, выручка, скидки, доставка, себестоимость, прибыль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432304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3591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созданные, оплаченные, доставленные, отмененные заказы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962656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895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средний чек, заказов на клиента, выручка на клиента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493008"/>
            <a:ext cx="82296" cy="82296"/>
          </a:xfrm>
          <a:prstGeom prst="ellipse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41985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9FF"/>
                </a:solidFill>
              </a:rPr>
              <a:t>отмены по причине, отмены после оплаты, проблемные сегменты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1828800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1975104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Дерево анализа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793992" y="2340864"/>
            <a:ext cx="4014216" cy="1993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EB8D0"/>
                </a:solidFill>
              </a:rPr>
              <a:t>что изменилось → где изменилось → какая причина → какой финансовый эффект → что делать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Поздние события и закрытие периода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Оплата, отмена или возврат могут прийти позже создания заказа.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Операционный контур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287121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event_time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watermark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переобработка N дней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быстрое BI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7510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Финансовый контур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645152" y="2340864"/>
            <a:ext cx="287121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D+1 сверка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freeze периода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correction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аудит изменений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97510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Контроль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302752" y="2340864"/>
            <a:ext cx="287121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manifest загрузки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checksum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version_id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lineage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Качество данных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Критичные проверки блокируют публикацию витрины.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8836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Полнота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41832" y="2249424"/>
            <a:ext cx="282549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источник → raw → mart: row count и суммы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8836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Уникальность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645152" y="2249424"/>
            <a:ext cx="282549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order_id, payment_id, event_id без дублей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D166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88366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Свежесть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348472" y="2249424"/>
            <a:ext cx="282549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максимальная дата события и дата загрузки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77240" y="352044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66674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Связность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41832" y="4032504"/>
            <a:ext cx="282549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payment должен иметь order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80560" y="352044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67A7FF">
                <a:alpha val="44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366674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Диапазоны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645152" y="4032504"/>
            <a:ext cx="282549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суммы, статусы, валюты, timestamps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183880" y="3520440"/>
            <a:ext cx="3154680" cy="1143000"/>
          </a:xfrm>
          <a:prstGeom prst="roundRect">
            <a:avLst>
              <a:gd name="adj" fmla="val 56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FF6B6B">
                <a:alpha val="44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48472" y="366674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Дрейф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8348472" y="4032504"/>
            <a:ext cx="282549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AEB8D0"/>
                </a:solidFill>
              </a:rPr>
              <a:t>аномалии распределений и резкие скачки</a:t>
            </a:r>
            <a:endParaRPr lang="en-US" sz="103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F7F9FF"/>
                </a:solidFill>
              </a:rPr>
              <a:t>Эксплуатация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Система должна быть управляемой, а не просто “работающей”.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29184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2FDBFF">
                <a:alpha val="4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751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SLA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296265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готовность витрин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lag Kafka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время DAG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BI refresh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29184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4DE6A8">
                <a:alpha val="4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9751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Backfill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599432" y="2340864"/>
            <a:ext cx="296265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диапазон партиций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лимит нагрузки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версия расчета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сверка итогов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291840" cy="2286000"/>
          </a:xfrm>
          <a:prstGeom prst="roundRect">
            <a:avLst>
              <a:gd name="adj" fmla="val 2800"/>
            </a:avLst>
          </a:prstGeom>
          <a:solidFill>
            <a:srgbClr val="121D35">
              <a:alpha val="99000"/>
            </a:srgbClr>
          </a:solidFill>
          <a:ln w="12700">
            <a:solidFill>
              <a:srgbClr val="A78BFA">
                <a:alpha val="4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97510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F7F9FF"/>
                </a:solidFill>
              </a:rPr>
              <a:t>Ownership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211312" y="2340864"/>
            <a:ext cx="2962656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владелец источника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владелец витрины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severity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EB8D0"/>
                </a:solidFill>
              </a:rPr>
              <a:t>runbook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DBFF"/>
          </a:solidFill>
          <a:ln w="12700">
            <a:solidFill>
              <a:srgbClr val="2F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4663">
              <a:alpha val="65000"/>
            </a:srgbClr>
          </a:solidFill>
          <a:ln w="12700">
            <a:solidFill>
              <a:srgbClr val="3B4663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2103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DBFF"/>
                </a:solidFill>
              </a:rPr>
              <a:t>SYSTEM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64282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B4663"/>
                </a:solidFill>
              </a:rPr>
              <a:t>68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30352" y="566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2650" b="1" dirty="0">
                <a:solidFill>
                  <a:srgbClr val="F7F9FF"/>
                </a:solidFill>
              </a:rPr>
              <a:t>Как  успешно пройти секцию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AEB8D0"/>
                </a:solidFill>
              </a:rPr>
              <a:t>Короткая структура для архитектурной встречи.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DB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856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F"/>
                </a:solidFill>
              </a:rPr>
              <a:t>требования и SLA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414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DE6A8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5146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F"/>
                </a:solidFill>
              </a:rPr>
              <a:t>источники и ключи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099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1729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F"/>
                </a:solidFill>
              </a:rPr>
              <a:t>слои DWH и ingestion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7581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313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F"/>
                </a:solidFill>
              </a:rPr>
              <a:t>факты, измерения, витрины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4165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7A7FF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4897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F"/>
                </a:solidFill>
              </a:rPr>
              <a:t>качество, backfill, late events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5074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51480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9FF"/>
                </a:solidFill>
              </a:rPr>
              <a:t>доступы, мониторинг, владельцы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6838</Words>
  <Application>Microsoft Macintosh PowerPoint</Application>
  <PresentationFormat>Widescreen</PresentationFormat>
  <Paragraphs>1243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Собеседования DA/DE в России — 70 слайдов</dc:title>
  <dc:subject>Собеседования DA/DE в России: SQL, Python, кейсы, system design</dc:subject>
  <dc:creator>OpenAI</dc:creator>
  <cp:lastModifiedBy>Microsoft Office User</cp:lastModifiedBy>
  <cp:revision>10</cp:revision>
  <dcterms:created xsi:type="dcterms:W3CDTF">2026-05-11T10:26:23Z</dcterms:created>
  <dcterms:modified xsi:type="dcterms:W3CDTF">2026-05-11T15:09:22Z</dcterms:modified>
</cp:coreProperties>
</file>